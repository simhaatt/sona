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D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· RESULTS 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13232" y="1371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Adaptive Audio Noise Cancellation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FE0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Learning-Based Frequency-Domain Processing on Edge Hardware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+9.9 dB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 improvement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0" y="32004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of 6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389120" y="3840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beat all baselines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0" y="32004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DB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722 K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8046720" y="3840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 · real-time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5120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 Dr. G. R. Venkatakrishnan
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D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Rohit Daniel  ·  Simhaa TT  ·  Vijayaraghavan 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7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noise cancellation is fixed and blind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tuning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221284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must be re-tuned by hand for every noise environment.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06240" y="1874520"/>
            <a:ext cx="457200" cy="457200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00600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Amplitude-only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00600" y="221284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components by loudness — no idea which bins carry speech.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Fails on real noise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344728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only for stationary noise; struggles with non-stationary / burst noise.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06240" y="3108960"/>
            <a:ext cx="457200" cy="457200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17" name="Text 15"/>
          <p:cNvSpPr/>
          <p:nvPr/>
        </p:nvSpPr>
        <p:spPr>
          <a:xfrm>
            <a:off x="42062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0060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Loses weak speech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00600" y="344728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quiet speech components, hurting intelligibility.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38160" y="1828800"/>
            <a:ext cx="3474720" cy="3063240"/>
          </a:xfrm>
          <a:prstGeom prst="roundRect">
            <a:avLst>
              <a:gd name="adj" fmla="val 2985"/>
            </a:avLst>
          </a:prstGeom>
          <a:solidFill>
            <a:srgbClr val="FBEEE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66760" y="2057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CONSEQUENCE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66760" y="24231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5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−3.7 to −5.8 dB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8366760" y="320040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SI-SDR on real noise.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DSP filters make the signal WORSE than doing nothing — they remove weak speech along with the noise.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Adaptive Noise Cancellation · Results Review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7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OUR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model that learns which frequencies to keep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 fixed amplitude rule, a lightweight neural model looks at each frequency band in context and predicts how much to suppress it — learned from thousands of clean/noisy speech pairs.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EEF3F8"/>
          </a:solidFill>
          <a:ln w="12700">
            <a:solidFill>
              <a:srgbClr val="D5E0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291840"/>
            <a:ext cx="457200" cy="457200"/>
          </a:xfrm>
          <a:prstGeom prst="ellipse">
            <a:avLst/>
          </a:prstGeom>
          <a:solidFill>
            <a:srgbClr val="2E5E8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17320" y="3081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Context-aware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17320" y="353872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band energy + spectral flux + past frames, not just loudness.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288036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EEF3F8"/>
          </a:solidFill>
          <a:ln w="12700">
            <a:solidFill>
              <a:srgbClr val="D5E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3291840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040880" y="3081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Preserves weak speech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040880" y="353872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quiet speech bins that thresholding would delete.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EEF3F8"/>
          </a:solidFill>
          <a:ln w="12700">
            <a:solidFill>
              <a:srgbClr val="D5E0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709160"/>
            <a:ext cx="457200" cy="457200"/>
          </a:xfrm>
          <a:prstGeom prst="ellipse">
            <a:avLst/>
          </a:prstGeom>
          <a:solidFill>
            <a:srgbClr val="4A7BA6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17320" y="449884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Adapts to any noise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495604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non-stationary and unseen noise types.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429768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EEF3F8"/>
          </a:solidFill>
          <a:ln w="12700">
            <a:solidFill>
              <a:srgbClr val="D5E0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4709160"/>
            <a:ext cx="457200" cy="457200"/>
          </a:xfrm>
          <a:prstGeom prst="ellipse">
            <a:avLst/>
          </a:prstGeom>
          <a:solidFill>
            <a:srgbClr val="2E5E8C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040880" y="449884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Edge-ready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040880" y="495604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722 K params, runs in real time — deployable on-device.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Adaptive Noise Cancellation · Results Review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7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SYSTEM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microphone to clean audio — in real time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417320" cy="1097280"/>
          </a:xfrm>
          <a:prstGeom prst="roundRect">
            <a:avLst>
              <a:gd name="adj" fmla="val 6667"/>
            </a:avLst>
          </a:prstGeom>
          <a:solidFill>
            <a:srgbClr val="EEF3F8"/>
          </a:solidFill>
          <a:ln w="12700">
            <a:solidFill>
              <a:srgbClr val="D5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0312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975104" y="2560320"/>
            <a:ext cx="182880" cy="182880"/>
          </a:xfrm>
          <a:prstGeom prst="rightArrow">
            <a:avLst/>
          </a:prstGeom>
          <a:solidFill>
            <a:srgbClr val="4A7BA6"/>
          </a:solidFill>
          <a:ln/>
        </p:spPr>
      </p:sp>
      <p:sp>
        <p:nvSpPr>
          <p:cNvPr id="7" name="Shape 5"/>
          <p:cNvSpPr/>
          <p:nvPr/>
        </p:nvSpPr>
        <p:spPr>
          <a:xfrm>
            <a:off x="2176272" y="2103120"/>
            <a:ext cx="1417320" cy="1097280"/>
          </a:xfrm>
          <a:prstGeom prst="roundRect">
            <a:avLst>
              <a:gd name="adj" fmla="val 6667"/>
            </a:avLst>
          </a:prstGeom>
          <a:solidFill>
            <a:srgbClr val="EEF3F8"/>
          </a:solidFill>
          <a:ln w="12700">
            <a:solidFill>
              <a:srgbClr val="D5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76272" y="210312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+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STFT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02736" y="2560320"/>
            <a:ext cx="182880" cy="182880"/>
          </a:xfrm>
          <a:prstGeom prst="rightArrow">
            <a:avLst/>
          </a:prstGeom>
          <a:solidFill>
            <a:srgbClr val="4A7BA6"/>
          </a:solidFill>
          <a:ln/>
        </p:spPr>
      </p:sp>
      <p:sp>
        <p:nvSpPr>
          <p:cNvPr id="10" name="Shape 8"/>
          <p:cNvSpPr/>
          <p:nvPr/>
        </p:nvSpPr>
        <p:spPr>
          <a:xfrm>
            <a:off x="3803904" y="2103120"/>
            <a:ext cx="1417320" cy="1097280"/>
          </a:xfrm>
          <a:prstGeom prst="roundRect">
            <a:avLst>
              <a:gd name="adj" fmla="val 6667"/>
            </a:avLst>
          </a:prstGeom>
          <a:solidFill>
            <a:srgbClr val="EEF3F8"/>
          </a:solidFill>
          <a:ln w="12700">
            <a:solidFill>
              <a:srgbClr val="D5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03904" y="210312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30368" y="2560320"/>
            <a:ext cx="182880" cy="182880"/>
          </a:xfrm>
          <a:prstGeom prst="rightArrow">
            <a:avLst/>
          </a:prstGeom>
          <a:solidFill>
            <a:srgbClr val="4A7BA6"/>
          </a:solidFill>
          <a:ln/>
        </p:spPr>
      </p:sp>
      <p:sp>
        <p:nvSpPr>
          <p:cNvPr id="13" name="Shape 11"/>
          <p:cNvSpPr/>
          <p:nvPr/>
        </p:nvSpPr>
        <p:spPr>
          <a:xfrm>
            <a:off x="5431536" y="2103120"/>
            <a:ext cx="1417320" cy="109728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31536" y="210312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0" y="2560320"/>
            <a:ext cx="182880" cy="182880"/>
          </a:xfrm>
          <a:prstGeom prst="rightArrow">
            <a:avLst/>
          </a:prstGeom>
          <a:solidFill>
            <a:srgbClr val="4A7BA6"/>
          </a:solidFill>
          <a:ln/>
        </p:spPr>
      </p:sp>
      <p:sp>
        <p:nvSpPr>
          <p:cNvPr id="16" name="Shape 14"/>
          <p:cNvSpPr/>
          <p:nvPr/>
        </p:nvSpPr>
        <p:spPr>
          <a:xfrm>
            <a:off x="7059168" y="2103120"/>
            <a:ext cx="1417320" cy="1097280"/>
          </a:xfrm>
          <a:prstGeom prst="roundRect">
            <a:avLst>
              <a:gd name="adj" fmla="val 6667"/>
            </a:avLst>
          </a:prstGeom>
          <a:solidFill>
            <a:srgbClr val="EEF3F8"/>
          </a:solidFill>
          <a:ln w="12700">
            <a:solidFill>
              <a:srgbClr val="D5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59168" y="210312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85632" y="2560320"/>
            <a:ext cx="182880" cy="182880"/>
          </a:xfrm>
          <a:prstGeom prst="rightArrow">
            <a:avLst/>
          </a:prstGeom>
          <a:solidFill>
            <a:srgbClr val="4A7BA6"/>
          </a:solidFill>
          <a:ln/>
        </p:spPr>
      </p:sp>
      <p:sp>
        <p:nvSpPr>
          <p:cNvPr id="19" name="Shape 17"/>
          <p:cNvSpPr/>
          <p:nvPr/>
        </p:nvSpPr>
        <p:spPr>
          <a:xfrm>
            <a:off x="8686800" y="2103120"/>
            <a:ext cx="1417320" cy="1097280"/>
          </a:xfrm>
          <a:prstGeom prst="roundRect">
            <a:avLst>
              <a:gd name="adj" fmla="val 6667"/>
            </a:avLst>
          </a:prstGeom>
          <a:solidFill>
            <a:srgbClr val="EEF3F8"/>
          </a:solidFill>
          <a:ln w="12700">
            <a:solidFill>
              <a:srgbClr val="D5E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0" y="210312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ISTFT +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overlap-add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113264" y="2560320"/>
            <a:ext cx="182880" cy="182880"/>
          </a:xfrm>
          <a:prstGeom prst="rightArrow">
            <a:avLst/>
          </a:prstGeom>
          <a:solidFill>
            <a:srgbClr val="4A7BA6"/>
          </a:solidFill>
          <a:ln/>
        </p:spPr>
      </p:sp>
      <p:sp>
        <p:nvSpPr>
          <p:cNvPr id="22" name="Shape 20"/>
          <p:cNvSpPr/>
          <p:nvPr/>
        </p:nvSpPr>
        <p:spPr>
          <a:xfrm>
            <a:off x="10314432" y="2103120"/>
            <a:ext cx="1417320" cy="1097280"/>
          </a:xfrm>
          <a:prstGeom prst="roundRect">
            <a:avLst>
              <a:gd name="adj" fmla="val 6667"/>
            </a:avLst>
          </a:prstGeom>
          <a:solidFill>
            <a:srgbClr val="EEF3F8"/>
          </a:solidFill>
          <a:ln w="12700">
            <a:solidFill>
              <a:srgbClr val="D5E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14432" y="210312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out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023360"/>
            <a:ext cx="204825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E0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187952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5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kHz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8640" y="4681728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rate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779776" y="4023360"/>
            <a:ext cx="204825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E0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79776" y="4187952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5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512-pt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2779776" y="4681728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STFT · 128 hop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010912" y="4023360"/>
            <a:ext cx="204825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E0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0912" y="4187952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5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010912" y="4681728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Bark bands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242048" y="4023360"/>
            <a:ext cx="204825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E0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42048" y="4187952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5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722 K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242048" y="4681728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params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473184" y="4023360"/>
            <a:ext cx="204825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E0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473184" y="4187952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5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~64 ms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9473184" y="4681728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Block-based streaming with overlap-add — the same path runs offline (files) and live (microphone).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Adaptive Noise Cancellation · Results Review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7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CORE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Learned model vs classical baselines — same 824 clips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145536" cy="420624"/>
          </a:xfrm>
          <a:prstGeom prst="rect">
            <a:avLst/>
          </a:prstGeom>
          <a:solidFill>
            <a:srgbClr val="1E3A5F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783080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(VoiceBank-DEMAND test)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94176" y="1783080"/>
            <a:ext cx="1258214" cy="420624"/>
          </a:xfrm>
          <a:prstGeom prst="rect">
            <a:avLst/>
          </a:prstGeom>
          <a:solidFill>
            <a:srgbClr val="1E3A5F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67328" y="1783080"/>
            <a:ext cx="11119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SI-SDRi ↑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52390" y="1783080"/>
            <a:ext cx="1179576" cy="420624"/>
          </a:xfrm>
          <a:prstGeom prst="rect">
            <a:avLst/>
          </a:prstGeom>
          <a:solidFill>
            <a:srgbClr val="1E3A5F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5542" y="1783080"/>
            <a:ext cx="1033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STOI ↑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31966" y="1783080"/>
            <a:ext cx="1179576" cy="420624"/>
          </a:xfrm>
          <a:prstGeom prst="rect">
            <a:avLst/>
          </a:prstGeom>
          <a:solidFill>
            <a:srgbClr val="1E3A5F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05118" y="1783080"/>
            <a:ext cx="1033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ESTOI ↑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1542" y="1783080"/>
            <a:ext cx="1100938" cy="420624"/>
          </a:xfrm>
          <a:prstGeom prst="rect">
            <a:avLst/>
          </a:prstGeom>
          <a:solidFill>
            <a:srgbClr val="1E3A5F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84694" y="1783080"/>
            <a:ext cx="95463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LSD ↓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203704"/>
            <a:ext cx="3145536" cy="420624"/>
          </a:xfrm>
          <a:prstGeom prst="rect">
            <a:avLst/>
          </a:prstGeom>
          <a:solidFill>
            <a:srgbClr val="F4F6F8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203704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input (no processing)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94176" y="2203704"/>
            <a:ext cx="1258214" cy="420624"/>
          </a:xfrm>
          <a:prstGeom prst="rect">
            <a:avLst/>
          </a:prstGeom>
          <a:solidFill>
            <a:srgbClr val="F4F6F8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67328" y="2203704"/>
            <a:ext cx="11119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52390" y="2203704"/>
            <a:ext cx="1179576" cy="420624"/>
          </a:xfrm>
          <a:prstGeom prst="rect">
            <a:avLst/>
          </a:prstGeom>
          <a:solidFill>
            <a:srgbClr val="F4F6F8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5542" y="2203704"/>
            <a:ext cx="1033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0.921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31966" y="2203704"/>
            <a:ext cx="1179576" cy="420624"/>
          </a:xfrm>
          <a:prstGeom prst="rect">
            <a:avLst/>
          </a:prstGeom>
          <a:solidFill>
            <a:srgbClr val="F4F6F8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05118" y="2203704"/>
            <a:ext cx="1033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0.787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1542" y="2203704"/>
            <a:ext cx="1100938" cy="420624"/>
          </a:xfrm>
          <a:prstGeom prst="rect">
            <a:avLst/>
          </a:prstGeom>
          <a:solidFill>
            <a:srgbClr val="F4F6F8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84694" y="2203704"/>
            <a:ext cx="95463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2624328"/>
            <a:ext cx="3145536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2624328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threshold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94176" y="2624328"/>
            <a:ext cx="125821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67328" y="2624328"/>
            <a:ext cx="11119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−3.69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952390" y="2624328"/>
            <a:ext cx="1179576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5542" y="2624328"/>
            <a:ext cx="1033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0.767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31966" y="2624328"/>
            <a:ext cx="1179576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05118" y="2624328"/>
            <a:ext cx="1033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0.573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311542" y="2624328"/>
            <a:ext cx="110093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84694" y="2624328"/>
            <a:ext cx="95463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13.78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3044952"/>
            <a:ext cx="3145536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" y="3044952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threshold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694176" y="3044952"/>
            <a:ext cx="125821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67328" y="3044952"/>
            <a:ext cx="11119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−5.82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952390" y="3044952"/>
            <a:ext cx="1179576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5542" y="3044952"/>
            <a:ext cx="1033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0.728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131966" y="3044952"/>
            <a:ext cx="1179576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05118" y="3044952"/>
            <a:ext cx="1033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0.532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311542" y="3044952"/>
            <a:ext cx="110093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84694" y="3044952"/>
            <a:ext cx="95463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15.28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48640" y="3465576"/>
            <a:ext cx="3145536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" y="3465576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subtraction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694176" y="3465576"/>
            <a:ext cx="125821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67328" y="3465576"/>
            <a:ext cx="11119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−0.25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952390" y="3465576"/>
            <a:ext cx="1179576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5542" y="3465576"/>
            <a:ext cx="1033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0.884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131966" y="3465576"/>
            <a:ext cx="1179576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05118" y="3465576"/>
            <a:ext cx="1033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0.734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7311542" y="3465576"/>
            <a:ext cx="110093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84694" y="3465576"/>
            <a:ext cx="95463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8.86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548640" y="3886200"/>
            <a:ext cx="3145536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1792" y="3886200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Wiener filter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3694176" y="3886200"/>
            <a:ext cx="125821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767328" y="3886200"/>
            <a:ext cx="11119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−1.93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4952390" y="3886200"/>
            <a:ext cx="1179576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25542" y="3886200"/>
            <a:ext cx="1033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0.824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6131966" y="3886200"/>
            <a:ext cx="1179576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05118" y="3886200"/>
            <a:ext cx="1033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0.677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7311542" y="3886200"/>
            <a:ext cx="110093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384694" y="3886200"/>
            <a:ext cx="95463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10.87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548640" y="4306824"/>
            <a:ext cx="3145536" cy="420624"/>
          </a:xfrm>
          <a:prstGeom prst="rect">
            <a:avLst/>
          </a:prstGeom>
          <a:solidFill>
            <a:srgbClr val="E9F5EE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1792" y="4306824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model (ours)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3694176" y="4306824"/>
            <a:ext cx="1258214" cy="420624"/>
          </a:xfrm>
          <a:prstGeom prst="rect">
            <a:avLst/>
          </a:prstGeom>
          <a:solidFill>
            <a:srgbClr val="E9F5EE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767328" y="4306824"/>
            <a:ext cx="11119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+9.93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4952390" y="4306824"/>
            <a:ext cx="1179576" cy="420624"/>
          </a:xfrm>
          <a:prstGeom prst="rect">
            <a:avLst/>
          </a:prstGeom>
          <a:solidFill>
            <a:srgbClr val="E9F5EE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25542" y="4306824"/>
            <a:ext cx="1033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0.930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6131966" y="4306824"/>
            <a:ext cx="1179576" cy="420624"/>
          </a:xfrm>
          <a:prstGeom prst="rect">
            <a:avLst/>
          </a:prstGeom>
          <a:solidFill>
            <a:srgbClr val="E9F5EE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205118" y="4306824"/>
            <a:ext cx="1033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0.832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7311542" y="4306824"/>
            <a:ext cx="1100938" cy="420624"/>
          </a:xfrm>
          <a:prstGeom prst="rect">
            <a:avLst/>
          </a:prstGeom>
          <a:solidFill>
            <a:srgbClr val="E9F5EE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384694" y="4306824"/>
            <a:ext cx="95463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6.47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8641080" y="1783080"/>
            <a:ext cx="2971800" cy="3108960"/>
          </a:xfrm>
          <a:prstGeom prst="roundRect">
            <a:avLst>
              <a:gd name="adj" fmla="val 3077"/>
            </a:avLst>
          </a:prstGeom>
          <a:solidFill>
            <a:srgbClr val="E9F5EE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86968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METHOD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8869680" y="2286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improves the signal on every metric.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8869680" y="306324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classical filter has NEGATIVE SI-SDR — they strip weak speech on real, non-stationary noise. The learned model gains +9.9 dB and lifts intelligibility.</a:t>
            </a:r>
            <a:endParaRPr lang="en-US" sz="1250" dirty="0"/>
          </a:p>
        </p:txBody>
      </p:sp>
      <p:sp>
        <p:nvSpPr>
          <p:cNvPr id="78" name="Text 76"/>
          <p:cNvSpPr/>
          <p:nvPr/>
        </p:nvSpPr>
        <p:spPr>
          <a:xfrm>
            <a:off x="548640" y="49834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higher is better    ↓ lower is better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Adaptive Noise Cancellation · Results Review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7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SPEECH CLARITY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filters denoise by damaging speech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71293" cy="420624"/>
          </a:xfrm>
          <a:prstGeom prst="rect">
            <a:avLst/>
          </a:prstGeom>
          <a:solidFill>
            <a:srgbClr val="1E3A5F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828800"/>
            <a:ext cx="242498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119933" y="1828800"/>
            <a:ext cx="1459382" cy="420624"/>
          </a:xfrm>
          <a:prstGeom prst="rect">
            <a:avLst/>
          </a:prstGeom>
          <a:solidFill>
            <a:srgbClr val="1E3A5F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93085" y="1828800"/>
            <a:ext cx="13130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9315" y="1828800"/>
            <a:ext cx="1459382" cy="420624"/>
          </a:xfrm>
          <a:prstGeom prst="rect">
            <a:avLst/>
          </a:prstGeom>
          <a:solidFill>
            <a:srgbClr val="1E3A5F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52467" y="1828800"/>
            <a:ext cx="13130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classical*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8698" y="1828800"/>
            <a:ext cx="1459382" cy="420624"/>
          </a:xfrm>
          <a:prstGeom prst="rect">
            <a:avLst/>
          </a:prstGeom>
          <a:solidFill>
            <a:srgbClr val="1E3A5F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11850" y="1828800"/>
            <a:ext cx="13130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(ours)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249424"/>
            <a:ext cx="2571293" cy="420624"/>
          </a:xfrm>
          <a:prstGeom prst="rect">
            <a:avLst/>
          </a:prstGeom>
          <a:solidFill>
            <a:srgbClr val="F4F6F8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249424"/>
            <a:ext cx="242498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STOI (intelligibility)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119933" y="2249424"/>
            <a:ext cx="1459382" cy="420624"/>
          </a:xfrm>
          <a:prstGeom prst="rect">
            <a:avLst/>
          </a:prstGeom>
          <a:solidFill>
            <a:srgbClr val="F4F6F8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93085" y="2249424"/>
            <a:ext cx="13130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9315" y="2249424"/>
            <a:ext cx="1459382" cy="420624"/>
          </a:xfrm>
          <a:prstGeom prst="rect">
            <a:avLst/>
          </a:prstGeom>
          <a:solidFill>
            <a:srgbClr val="F4F6F8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52467" y="2249424"/>
            <a:ext cx="13130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0.884 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38698" y="2249424"/>
            <a:ext cx="1459382" cy="420624"/>
          </a:xfrm>
          <a:prstGeom prst="rect">
            <a:avLst/>
          </a:prstGeom>
          <a:solidFill>
            <a:srgbClr val="F4F6F8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11850" y="2249424"/>
            <a:ext cx="13130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0.930 ↑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2670048"/>
            <a:ext cx="2571293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2670048"/>
            <a:ext cx="242498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ESTOI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119933" y="2670048"/>
            <a:ext cx="1459382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93085" y="2670048"/>
            <a:ext cx="13130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0.787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9315" y="2670048"/>
            <a:ext cx="1459382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52467" y="2670048"/>
            <a:ext cx="13130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0.734 ↓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38698" y="2670048"/>
            <a:ext cx="1459382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11850" y="2670048"/>
            <a:ext cx="13130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0.832 ↑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3090672"/>
            <a:ext cx="2571293" cy="420624"/>
          </a:xfrm>
          <a:prstGeom prst="rect">
            <a:avLst/>
          </a:prstGeom>
          <a:solidFill>
            <a:srgbClr val="F4F6F8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090672"/>
            <a:ext cx="242498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 (quality)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119933" y="3090672"/>
            <a:ext cx="1459382" cy="420624"/>
          </a:xfrm>
          <a:prstGeom prst="rect">
            <a:avLst/>
          </a:prstGeom>
          <a:solidFill>
            <a:srgbClr val="F4F6F8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93085" y="3090672"/>
            <a:ext cx="13130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1.97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9315" y="3090672"/>
            <a:ext cx="1459382" cy="420624"/>
          </a:xfrm>
          <a:prstGeom prst="rect">
            <a:avLst/>
          </a:prstGeom>
          <a:solidFill>
            <a:srgbClr val="F4F6F8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52467" y="3090672"/>
            <a:ext cx="13130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038698" y="3090672"/>
            <a:ext cx="1459382" cy="420624"/>
          </a:xfrm>
          <a:prstGeom prst="rect">
            <a:avLst/>
          </a:prstGeom>
          <a:solidFill>
            <a:srgbClr val="F4F6F8"/>
          </a:solidFill>
          <a:ln w="6350">
            <a:solidFill>
              <a:srgbClr val="D5E0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11850" y="3090672"/>
            <a:ext cx="13130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2.49 ↑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8640" y="35661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spectral subtraction, the strongest classical baseline.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772400" y="182880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EEF3F8"/>
          </a:solidFill>
          <a:ln w="12700">
            <a:solidFill>
              <a:srgbClr val="D5E0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01000" y="2057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A7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001000" y="237744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classical filter LOWERS intelligibility (STOI) below the untouched noisy signal — proof they remove speech, not just noise.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learned model raises both intelligibility and quality.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Adaptive Noise Cancellation · Results Review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7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REAL-TIME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enough for live, on-device use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402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FD4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0.009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factor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1 s of audio in ~9 ms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70248" y="19202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4270248" y="22402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FD4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~64 ms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270248" y="30632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latency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53128" y="34290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block-based overlap-add streaming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91856" y="19202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7991856" y="22402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FD4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100×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7991856" y="30632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real time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74736" y="34290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headroom for edge hardware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3434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real-time factor as the classical filters (~0.008) — the learned model adds no runtime cost while delivering far better quality. Target edge device: Raspberry Pi.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Adaptive Noise Cancellation · Results Review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7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PROJECT 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against the objectives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01368"/>
            <a:ext cx="365760" cy="36576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783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FFT pipeline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801368"/>
            <a:ext cx="365760" cy="36576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8" name="Text 6"/>
          <p:cNvSpPr/>
          <p:nvPr/>
        </p:nvSpPr>
        <p:spPr>
          <a:xfrm>
            <a:off x="6172200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75120" y="1783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per-band suppression model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551176"/>
            <a:ext cx="365760" cy="36576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551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53288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mic → FFT → model → IFFT path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72200" y="2551176"/>
            <a:ext cx="365760" cy="36576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2551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75120" y="253288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clean/noisy pairs (VoiceBank + MS-SNSD)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300984"/>
            <a:ext cx="365760" cy="36576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300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28269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vs 4 classical baselines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72200" y="3300984"/>
            <a:ext cx="365760" cy="36576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3300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75120" y="328269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SNR, spectrum, clarity, latency measured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4050792"/>
            <a:ext cx="365760" cy="36576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050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403250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validation on unseen noise (MS-SNSD: +3.2 dB)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172200" y="4050792"/>
            <a:ext cx="365760" cy="365760"/>
          </a:xfrm>
          <a:prstGeom prst="ellipse">
            <a:avLst/>
          </a:prstGeom>
          <a:solidFill>
            <a:srgbClr val="4A7BA6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4050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75120" y="403250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 on Raspberry Pi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8640" y="4800600"/>
            <a:ext cx="365760" cy="365760"/>
          </a:xfrm>
          <a:prstGeom prst="ellipse">
            <a:avLst/>
          </a:prstGeom>
          <a:solidFill>
            <a:srgbClr val="4A7BA6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51560" y="478231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microphone demo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172200" y="4800600"/>
            <a:ext cx="365760" cy="365760"/>
          </a:xfrm>
          <a:prstGeom prst="ellipse">
            <a:avLst/>
          </a:prstGeom>
          <a:solidFill>
            <a:srgbClr val="4A7BA6"/>
          </a:solidFill>
          <a:ln/>
        </p:spPr>
      </p:sp>
      <p:sp>
        <p:nvSpPr>
          <p:cNvPr id="32" name="Text 30"/>
          <p:cNvSpPr/>
          <p:nvPr/>
        </p:nvSpPr>
        <p:spPr>
          <a:xfrm>
            <a:off x="617220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675120" y="478231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Error Rate (ASR) evaluation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Adaptive Noise Cancellation · Results Review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D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NEXT STEPS &amp; FUTURE 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13232" y="12801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benchmark to on-device product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5212080" cy="3200400"/>
          </a:xfrm>
          <a:prstGeom prst="roundRect">
            <a:avLst>
              <a:gd name="adj" fmla="val 2857"/>
            </a:avLst>
          </a:prstGeom>
          <a:solidFill>
            <a:srgbClr val="26456B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7F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306324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quantized model on Raspberry Pi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mic → speaker demo with latency check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WER evaluation with an ASR model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2286000"/>
            <a:ext cx="5212080" cy="3200400"/>
          </a:xfrm>
          <a:prstGeom prst="roundRect">
            <a:avLst>
              <a:gd name="adj" fmla="val 2857"/>
            </a:avLst>
          </a:prstGeom>
          <a:solidFill>
            <a:srgbClr val="26456B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7F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37960" y="306324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Hearing aids — profile-tuned suppression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conferencing &amp; smart speakers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broadcast / podcast noise cleaning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57150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CFE0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 line:  a learned adaptive filter that beats every classical baseline on real noise, at real-time speed — ready to move onto edge hardware.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2026-07-24T10:58:47Z</dcterms:created>
  <dcterms:modified xsi:type="dcterms:W3CDTF">2026-07-24T10:58:47Z</dcterms:modified>
</cp:coreProperties>
</file>