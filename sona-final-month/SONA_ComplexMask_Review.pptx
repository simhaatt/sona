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0"/>
            <a:ext cx="219456" cy="457200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" y="4206240"/>
            <a:ext cx="219456" cy="822960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499616" y="3794760"/>
            <a:ext cx="219456" cy="1234440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883664" y="4343400"/>
            <a:ext cx="219456" cy="685800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2267712" y="3566160"/>
            <a:ext cx="219456" cy="1463040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651760" y="4069080"/>
            <a:ext cx="219456" cy="960120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3035808" y="4480560"/>
            <a:ext cx="219456" cy="548640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/>
        </p:spPr>
      </p:sp>
      <p:sp>
        <p:nvSpPr>
          <p:cNvPr id="9" name="Shape 7"/>
          <p:cNvSpPr/>
          <p:nvPr/>
        </p:nvSpPr>
        <p:spPr>
          <a:xfrm>
            <a:off x="3419856" y="3931920"/>
            <a:ext cx="219456" cy="1097280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3803904" y="4251960"/>
            <a:ext cx="219456" cy="777240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187952" y="3703320"/>
            <a:ext cx="219456" cy="1325880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4434840"/>
            <a:ext cx="219456" cy="594360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4956048" y="4114800"/>
            <a:ext cx="219456" cy="914400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 ·  SPEECH ENHANCEMENT RESEARCH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14173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Ratio Masking on a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Speech Enhancer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rigorous evaluation of the waveform-fidelity vs perceptual-quality trade-off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review</a:t>
            </a:r>
            <a:pPr indent="0" marL="0">
              <a:buNone/>
            </a:pPr>
            <a:r>
              <a:rPr lang="en-US" sz="1300" dirty="0">
                <a:solidFill>
                  <a:srgbClr val="8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VoiceBank-DEMAND   ·   Real PESQ + published baseline   ·   824-clip test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modelling phase help a small model?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lightweight enhancers predict a magnitude mask and reuse the noisy phase. Modern high-end systems predict complex masks that also correct phase — but at higher cost. The open question for an efficient, real-time system: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0632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complex masking improve quality on a lightweight GTCRN backbone — and do the standard metrics even agree on the answer?”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06640" y="178308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1305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18928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kHz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366760" y="2441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target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0" y="310896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3456432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3218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 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667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(compact)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06640" y="443484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478231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4544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66760" y="5093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clips scored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· Complex Ratio Masking — Rigorous Evaluation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Magnitude mask vs complex ratio mask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Magnitude mask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|STFT| by a gain in [0,1]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noisy phase unchanged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but phase errors remain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14884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0B556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788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ratio mask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37960" y="34290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real + imaginary mask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magnitude AND phase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better reconstruction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806440" y="3566160"/>
            <a:ext cx="502920" cy="457200"/>
          </a:xfrm>
          <a:prstGeom prst="rightArrow">
            <a:avLst/>
          </a:pr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STFT front-end · same 32 Bark-band output space · only the mask type differs — a controlled comparison.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· Complex Ratio Masking — Rigorous Evaluation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WHAT WE CHANGED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head swap — 97 extra parameters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+97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parameters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722,209  →  722,306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+0.013% model size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RTF (~0.01, real-time)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965960"/>
            <a:ext cx="502920" cy="50292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1208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mask head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GTCRN encoder + GRU; final layer outputs 2 channels (real, imag) instead of 1 gain.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3291840"/>
            <a:ext cx="502920" cy="50292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12080" y="3154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initialisation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1208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starts as a pass-through mask so the model isn't handicapped early in training.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0560" y="4617720"/>
            <a:ext cx="502920" cy="50292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2080" y="4480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Scale-anchor SNR loss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12080" y="4937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SI-SDR is scale-invariant; a small SNR term stops the complex mask drifting output level.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· Complex Ratio Masking — Rigorous Evaluation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HOW WE EVALUATED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controlled A/B with real, validated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0848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A/B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606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backbone, data, epochs and loss — only the mask type varies.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0248" y="18288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44568" y="2103120"/>
            <a:ext cx="384048" cy="384048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0" name="Text 8"/>
          <p:cNvSpPr/>
          <p:nvPr/>
        </p:nvSpPr>
        <p:spPr>
          <a:xfrm>
            <a:off x="5093208" y="20848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62856" y="2606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5,000-clip VoiceBank-DEMAND train · full 824-clip test · 40 epochs.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91856" y="18288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6176" y="210312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8814816" y="20848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PESQ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84464" y="2606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a WSL Linux env (no Windows wheel). Validated against published values.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0690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050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" y="45720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Wilcoxon signed-rank + 95% bootstrap CIs on all 824 clips.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70248" y="37947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44568" y="4069080"/>
            <a:ext cx="384048" cy="384048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4050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metrics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62856" y="45720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SI-SDR, SNR, PESQ, STOI, ESTOI, LSD — the standard SE suite.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91856" y="37947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66176" y="406908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8814816" y="4050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 baseline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84464" y="45720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MetricGAN+ (SpeechBrain), run through the same harness.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· Complex Ratio Masking — Rigorous Evaluation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RESULTS — THE A/B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mask: better fidelity, lower PESQ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331720" cy="402336"/>
          </a:xfrm>
          <a:prstGeom prst="rect">
            <a:avLst/>
          </a:prstGeom>
          <a:solidFill>
            <a:srgbClr val="1B2A4A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965960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(824 clips)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80360" y="1965960"/>
            <a:ext cx="1243584" cy="402336"/>
          </a:xfrm>
          <a:prstGeom prst="rect">
            <a:avLst/>
          </a:prstGeom>
          <a:solidFill>
            <a:srgbClr val="1B2A4A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62656" y="196596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23944" y="1965960"/>
            <a:ext cx="1243584" cy="402336"/>
          </a:xfrm>
          <a:prstGeom prst="rect">
            <a:avLst/>
          </a:prstGeom>
          <a:solidFill>
            <a:srgbClr val="1B2A4A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96596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67528" y="1965960"/>
            <a:ext cx="1476756" cy="402336"/>
          </a:xfrm>
          <a:prstGeom prst="rect">
            <a:avLst/>
          </a:prstGeom>
          <a:solidFill>
            <a:srgbClr val="1B2A4A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9824" y="1965960"/>
            <a:ext cx="131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(cx − mag)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44284" y="1965960"/>
            <a:ext cx="1476756" cy="402336"/>
          </a:xfrm>
          <a:prstGeom prst="rect">
            <a:avLst/>
          </a:prstGeom>
          <a:solidFill>
            <a:srgbClr val="1B2A4A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26580" y="1965960"/>
            <a:ext cx="131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368296"/>
            <a:ext cx="2331720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368296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SI-SDRi  (dB)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80360" y="2368296"/>
            <a:ext cx="1243584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62656" y="2368296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23944" y="2368296"/>
            <a:ext cx="1243584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2368296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67528" y="2368296"/>
            <a:ext cx="1476756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9824" y="2368296"/>
            <a:ext cx="131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44284" y="2368296"/>
            <a:ext cx="1476756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26580" y="2368296"/>
            <a:ext cx="131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1e-6  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2770632"/>
            <a:ext cx="2331720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2770632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SNRi  (dB)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880360" y="2770632"/>
            <a:ext cx="1243584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62656" y="2770632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9.78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23944" y="2770632"/>
            <a:ext cx="1243584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2770632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10.09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67528" y="2770632"/>
            <a:ext cx="1476756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9824" y="2770632"/>
            <a:ext cx="131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44284" y="2770632"/>
            <a:ext cx="1476756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26580" y="2770632"/>
            <a:ext cx="131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1e-6  ✓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3172968"/>
            <a:ext cx="2331720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" y="3172968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STOI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880360" y="3172968"/>
            <a:ext cx="1243584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62656" y="317296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0.929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123944" y="3172968"/>
            <a:ext cx="1243584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317296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0.931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367528" y="3172968"/>
            <a:ext cx="1476756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9824" y="3172968"/>
            <a:ext cx="131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+0.0020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44284" y="3172968"/>
            <a:ext cx="1476756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26580" y="3172968"/>
            <a:ext cx="131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1e-35  ✓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3575304"/>
            <a:ext cx="2331720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" y="3575304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LSD  (lower better)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880360" y="3575304"/>
            <a:ext cx="1243584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62656" y="3575304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6.22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123944" y="3575304"/>
            <a:ext cx="1243584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0" y="3575304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6.20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367528" y="3575304"/>
            <a:ext cx="1476756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49824" y="3575304"/>
            <a:ext cx="131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−0.02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844284" y="3575304"/>
            <a:ext cx="1476756" cy="402336"/>
          </a:xfrm>
          <a:prstGeom prst="rect">
            <a:avLst/>
          </a:prstGeom>
          <a:solidFill>
            <a:srgbClr val="EAF6F3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26580" y="3575304"/>
            <a:ext cx="131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3.5e-5  ✓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48640" y="3977640"/>
            <a:ext cx="2331720" cy="402336"/>
          </a:xfrm>
          <a:prstGeom prst="rect">
            <a:avLst/>
          </a:prstGeom>
          <a:solidFill>
            <a:srgbClr val="FBEEE8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" y="3977640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880360" y="3977640"/>
            <a:ext cx="1243584" cy="402336"/>
          </a:xfrm>
          <a:prstGeom prst="rect">
            <a:avLst/>
          </a:prstGeom>
          <a:solidFill>
            <a:srgbClr val="FBEEE8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62656" y="397764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2.494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123944" y="3977640"/>
            <a:ext cx="1243584" cy="402336"/>
          </a:xfrm>
          <a:prstGeom prst="rect">
            <a:avLst/>
          </a:prstGeom>
          <a:solidFill>
            <a:srgbClr val="FBEEE8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06240" y="397764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2.478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367528" y="3977640"/>
            <a:ext cx="1476756" cy="402336"/>
          </a:xfrm>
          <a:prstGeom prst="rect">
            <a:avLst/>
          </a:prstGeom>
          <a:solidFill>
            <a:srgbClr val="FBEEE8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49824" y="3977640"/>
            <a:ext cx="131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−0.016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844284" y="3977640"/>
            <a:ext cx="1476756" cy="402336"/>
          </a:xfrm>
          <a:prstGeom prst="rect">
            <a:avLst/>
          </a:prstGeom>
          <a:solidFill>
            <a:srgbClr val="FBEEE8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26580" y="3977640"/>
            <a:ext cx="131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  ✗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48640" y="4379976"/>
            <a:ext cx="2331720" cy="402336"/>
          </a:xfrm>
          <a:prstGeom prst="rect">
            <a:avLst/>
          </a:prstGeom>
          <a:solidFill>
            <a:srgbClr val="F4F6F7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936" y="4379976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ESTOI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2880360" y="4379976"/>
            <a:ext cx="1243584" cy="402336"/>
          </a:xfrm>
          <a:prstGeom prst="rect">
            <a:avLst/>
          </a:prstGeom>
          <a:solidFill>
            <a:srgbClr val="F4F6F7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62656" y="4379976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0.831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123944" y="4379976"/>
            <a:ext cx="1243584" cy="402336"/>
          </a:xfrm>
          <a:prstGeom prst="rect">
            <a:avLst/>
          </a:prstGeom>
          <a:solidFill>
            <a:srgbClr val="F4F6F7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06240" y="4379976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0.831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367528" y="4379976"/>
            <a:ext cx="1476756" cy="402336"/>
          </a:xfrm>
          <a:prstGeom prst="rect">
            <a:avLst/>
          </a:prstGeom>
          <a:solidFill>
            <a:srgbClr val="F4F6F7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49824" y="4379976"/>
            <a:ext cx="131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+0.0005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844284" y="4379976"/>
            <a:ext cx="1476756" cy="402336"/>
          </a:xfrm>
          <a:prstGeom prst="rect">
            <a:avLst/>
          </a:prstGeom>
          <a:solidFill>
            <a:srgbClr val="F4F6F7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26580" y="4379976"/>
            <a:ext cx="131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  (ns)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595360" y="1965960"/>
            <a:ext cx="3017520" cy="2862072"/>
          </a:xfrm>
          <a:prstGeom prst="roundRect">
            <a:avLst>
              <a:gd name="adj" fmla="val 3195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82396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8823960" y="2560320"/>
            <a:ext cx="2606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6 metrics improve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significantly (fidelity + intelligibility)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 drops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significantly, but by a tiny margin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548640" y="4892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trade-off — not a clean win. Only real PESQ revealed it; an SI-SDR-only evaluation would have reported a false victory.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· Complex Ratio Masking — Rigorous Evaluation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RESULTS — VS PUBLISHED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sits among published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38805" cy="402336"/>
          </a:xfrm>
          <a:prstGeom prst="rect">
            <a:avLst/>
          </a:prstGeom>
          <a:solidFill>
            <a:srgbClr val="1B2A4A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783080"/>
            <a:ext cx="307421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87445" y="1783080"/>
            <a:ext cx="1267358" cy="402336"/>
          </a:xfrm>
          <a:prstGeom prst="rect">
            <a:avLst/>
          </a:prstGeom>
          <a:solidFill>
            <a:srgbClr val="1B2A4A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69741" y="1783080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54803" y="1783080"/>
            <a:ext cx="1267358" cy="402336"/>
          </a:xfrm>
          <a:prstGeom prst="rect">
            <a:avLst/>
          </a:prstGeom>
          <a:solidFill>
            <a:srgbClr val="1B2A4A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37099" y="1783080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22162" y="1783080"/>
            <a:ext cx="1267358" cy="402336"/>
          </a:xfrm>
          <a:prstGeom prst="rect">
            <a:avLst/>
          </a:prstGeom>
          <a:solidFill>
            <a:srgbClr val="1B2A4A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4458" y="1783080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85416"/>
            <a:ext cx="3238805" cy="402336"/>
          </a:xfrm>
          <a:prstGeom prst="rect">
            <a:avLst/>
          </a:prstGeom>
          <a:solidFill>
            <a:srgbClr val="F4F6F7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2185416"/>
            <a:ext cx="307421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input (unprocessed)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87445" y="2185416"/>
            <a:ext cx="1267358" cy="402336"/>
          </a:xfrm>
          <a:prstGeom prst="rect">
            <a:avLst/>
          </a:prstGeom>
          <a:solidFill>
            <a:srgbClr val="F4F6F7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9741" y="2185416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54803" y="2185416"/>
            <a:ext cx="1267358" cy="402336"/>
          </a:xfrm>
          <a:prstGeom prst="rect">
            <a:avLst/>
          </a:prstGeom>
          <a:solidFill>
            <a:srgbClr val="F4F6F7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7099" y="2185416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1.97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22162" y="2185416"/>
            <a:ext cx="1267358" cy="402336"/>
          </a:xfrm>
          <a:prstGeom prst="rect">
            <a:avLst/>
          </a:prstGeom>
          <a:solidFill>
            <a:srgbClr val="F4F6F7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4458" y="2185416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2587752"/>
            <a:ext cx="3238805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" y="2587752"/>
            <a:ext cx="307421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— magnitude GTCRN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87445" y="2587752"/>
            <a:ext cx="126735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69741" y="2587752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 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54803" y="2587752"/>
            <a:ext cx="126735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7099" y="2587752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22162" y="2587752"/>
            <a:ext cx="126735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4458" y="2587752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0.929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2990088"/>
            <a:ext cx="3238805" cy="402336"/>
          </a:xfrm>
          <a:prstGeom prst="rect">
            <a:avLst/>
          </a:prstGeom>
          <a:solidFill>
            <a:srgbClr val="EEF4F6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" y="2990088"/>
            <a:ext cx="307421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— complex GTCRN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87445" y="2990088"/>
            <a:ext cx="1267358" cy="402336"/>
          </a:xfrm>
          <a:prstGeom prst="rect">
            <a:avLst/>
          </a:prstGeom>
          <a:solidFill>
            <a:srgbClr val="EEF4F6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69741" y="2990088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 M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54803" y="2990088"/>
            <a:ext cx="1267358" cy="402336"/>
          </a:xfrm>
          <a:prstGeom prst="rect">
            <a:avLst/>
          </a:prstGeom>
          <a:solidFill>
            <a:srgbClr val="EEF4F6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7099" y="2990088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2.48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22162" y="2990088"/>
            <a:ext cx="1267358" cy="402336"/>
          </a:xfrm>
          <a:prstGeom prst="rect">
            <a:avLst/>
          </a:prstGeom>
          <a:solidFill>
            <a:srgbClr val="EEF4F6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4458" y="2990088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0.931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3392424"/>
            <a:ext cx="3238805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" y="3392424"/>
            <a:ext cx="307421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DCCRN (2020) †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787445" y="3392424"/>
            <a:ext cx="126735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69741" y="3392424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M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054803" y="3392424"/>
            <a:ext cx="126735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37099" y="3392424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2.68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22162" y="3392424"/>
            <a:ext cx="126735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4458" y="3392424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3794760"/>
            <a:ext cx="3238805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" y="3794760"/>
            <a:ext cx="307421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DeepFilterNet2 (2022) †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787445" y="3794760"/>
            <a:ext cx="126735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69741" y="3794760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M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054803" y="3794760"/>
            <a:ext cx="126735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37099" y="3794760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3.08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322162" y="3794760"/>
            <a:ext cx="126735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4458" y="3794760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48640" y="4197096"/>
            <a:ext cx="3238805" cy="402336"/>
          </a:xfrm>
          <a:prstGeom prst="rect">
            <a:avLst/>
          </a:prstGeom>
          <a:solidFill>
            <a:srgbClr val="FBEEE8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" y="4197096"/>
            <a:ext cx="307421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MetricGAN+ (2021) — measured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787445" y="4197096"/>
            <a:ext cx="1267358" cy="402336"/>
          </a:xfrm>
          <a:prstGeom prst="rect">
            <a:avLst/>
          </a:prstGeom>
          <a:solidFill>
            <a:srgbClr val="FBEEE8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69741" y="4197096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~1.9 M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054803" y="4197096"/>
            <a:ext cx="1267358" cy="402336"/>
          </a:xfrm>
          <a:prstGeom prst="rect">
            <a:avLst/>
          </a:prstGeom>
          <a:solidFill>
            <a:srgbClr val="FBEEE8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37099" y="4197096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3.13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322162" y="4197096"/>
            <a:ext cx="1267358" cy="402336"/>
          </a:xfrm>
          <a:prstGeom prst="rect">
            <a:avLst/>
          </a:prstGeom>
          <a:solidFill>
            <a:srgbClr val="FBEEE8"/>
          </a:solidFill>
          <a:ln w="6350">
            <a:solidFill>
              <a:srgbClr val="D8E2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4458" y="4197096"/>
            <a:ext cx="11027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0.932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48640" y="47091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 reported on VoiceBank-DEMAND in the source paper (not re-measured here).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863840" y="1783080"/>
            <a:ext cx="3749040" cy="3246120"/>
          </a:xfrm>
          <a:prstGeom prst="roundRect">
            <a:avLst>
              <a:gd name="adj" fmla="val 2817"/>
            </a:avLst>
          </a:prstGeom>
          <a:solidFill>
            <a:srgbClr val="EAF6F3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924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VALIDATED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092440" y="23774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PESQ matches published values: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1.97 ✓    MetricGAN+ 3.13 ✓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numbers are trustworthy — and honestly, our compact model is efficient but below PESQ-optimised state of the art.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· Complex Ratio Masking — Rigorous Evaluation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WHAT THE RESULTS MEAN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metrics disagree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2637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SI-SDR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377440" y="19202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signal / waveform reconstruction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26375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718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377440" y="29718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perceived quality (magnitude-focused)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9202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 mask improves phase estimation.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 is known to be relatively insensitive to phase — so a genuine phase improvement lifts SI-SDR and STOI but barely moves, or slightly lowers, PESQ.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0E3A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51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i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 is the contribution:  </a:t>
            </a:r>
            <a:pPr indent="0" marL="0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measurable, statistically significant trade-off between waveform fidelity and perceptual quality — the kind of metric disagreement that is usually hidden when PESQ is omitted.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· Complex Ratio Masking — Rigorous Evaluation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WHERE THE PROJECT STANDS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verified end-to-end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2140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A — GTCRN denoiser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backbone · SI-SDRi 9.9 dB on VoiceBank · externally validated on MS-SNSD.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08" y="21214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103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B — controller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classifier (0.75 grouped-CV acc), mode routing, EQ / compressor, web demo.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041648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Complex-mask study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4617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Implemented, trained, evaluated with significance — the trade-off result above.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40416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infrastructure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4617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PESQ (WSL) + MetricGAN+ baseline + paired stats — reusable and validated.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· Complex Ratio Masking — Rigorous Evaluation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NEXT RESEARCH DIRECTIONS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paper excellent — not chase +0.05 PESQ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8105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the contribution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212080" y="1810512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as a rigorous evaluation revealing a fidelity–perceptual trade-off, not “our method wins.”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548640" cy="5486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834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Perceptual objective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212080" y="28346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differentiable perceptual / PESQ-surrogate loss (MetricGAN-style) — the real path to PESQ gains.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22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8587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analyses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12080" y="385876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 &amp; error plots, phase-difference maps, metric-correlation figures — high value, low effort.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46904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46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88289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Stronger comparison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12080" y="4882896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literature table; discuss efficiency vs quality positioning explicitly.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listening study (MOS) is valuable but deferred — it needs careful design and participant recruitment.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· Complex Ratio Masking — Rigorous Evaluation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31520" y="6858000"/>
            <a:ext cx="219456" cy="274320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15568" y="6858000"/>
            <a:ext cx="219456" cy="493776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499616" y="6858000"/>
            <a:ext cx="219456" cy="740664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 flipV="1">
            <a:off x="1883664" y="6858000"/>
            <a:ext cx="219456" cy="411480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 flipV="1">
            <a:off x="2267712" y="6858000"/>
            <a:ext cx="219456" cy="877824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2651760" y="6858000"/>
            <a:ext cx="219456" cy="576072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3035808" y="6858000"/>
            <a:ext cx="219456" cy="329184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3419856" y="6858000"/>
            <a:ext cx="219456" cy="658368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 flipV="1">
            <a:off x="3803904" y="6858000"/>
            <a:ext cx="219456" cy="466344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4187952" y="6858000"/>
            <a:ext cx="219456" cy="795528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4572000" y="6858000"/>
            <a:ext cx="219456" cy="356616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 flipV="1">
            <a:off x="4956048" y="6858000"/>
            <a:ext cx="219456" cy="548640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173736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rigorously evaluate complex ratio masking on a lightweight GTCRN and show a statistically significant trade-off between waveform fidelity and perceptual quality.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+0.31 dB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SI-SDR, p &lt; 1e-6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4160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−0.016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389120" y="4846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PESQ, p = 0.005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4160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+97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046720" y="4846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only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5577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measurable, and defensible — the basis for a strong evaluation paper.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2026-07-24T04:11:39Z</dcterms:created>
  <dcterms:modified xsi:type="dcterms:W3CDTF">2026-07-24T04:11:39Z</dcterms:modified>
</cp:coreProperties>
</file>